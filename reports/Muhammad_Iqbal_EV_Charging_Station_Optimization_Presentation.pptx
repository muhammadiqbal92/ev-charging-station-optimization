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281ac2269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281ac226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281ac2269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281ac2269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281ac2269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281ac2269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281ac2269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281ac2269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281ac2269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281ac2269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281ac2269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281ac2269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281ac2269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281ac2269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281ac2269d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281ac2269d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281ac2269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281ac2269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6.jp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kaggle.com/datasets/anoopjohny/electric-vehicle-charging-connecticut?select=Electric_Vehicle_Charging_Stations.csv"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4572000" y="1823175"/>
            <a:ext cx="4505326" cy="3320325"/>
          </a:xfrm>
          <a:prstGeom prst="rect">
            <a:avLst/>
          </a:prstGeom>
          <a:noFill/>
          <a:ln>
            <a:noFill/>
          </a:ln>
        </p:spPr>
      </p:pic>
      <p:pic>
        <p:nvPicPr>
          <p:cNvPr id="55" name="Google Shape;55;p13"/>
          <p:cNvPicPr preferRelativeResize="0"/>
          <p:nvPr/>
        </p:nvPicPr>
        <p:blipFill>
          <a:blip r:embed="rId4">
            <a:alphaModFix/>
          </a:blip>
          <a:stretch>
            <a:fillRect/>
          </a:stretch>
        </p:blipFill>
        <p:spPr>
          <a:xfrm>
            <a:off x="0" y="1823175"/>
            <a:ext cx="4572001" cy="3320325"/>
          </a:xfrm>
          <a:prstGeom prst="rect">
            <a:avLst/>
          </a:prstGeom>
          <a:noFill/>
          <a:ln>
            <a:noFill/>
          </a:ln>
        </p:spPr>
      </p:pic>
      <p:sp>
        <p:nvSpPr>
          <p:cNvPr id="56" name="Google Shape;56;p13"/>
          <p:cNvSpPr txBox="1"/>
          <p:nvPr>
            <p:ph type="ctrTitle"/>
          </p:nvPr>
        </p:nvSpPr>
        <p:spPr>
          <a:xfrm>
            <a:off x="102150" y="838150"/>
            <a:ext cx="8622900" cy="1228800"/>
          </a:xfrm>
          <a:prstGeom prst="rect">
            <a:avLst/>
          </a:prstGeom>
        </p:spPr>
        <p:txBody>
          <a:bodyPr anchorCtr="0" anchor="b" bIns="91425" lIns="91425" spcFirstLastPara="1" rIns="91425" wrap="square" tIns="91425">
            <a:normAutofit fontScale="90000"/>
          </a:bodyPr>
          <a:lstStyle/>
          <a:p>
            <a:pPr indent="0" lvl="0" marL="457200" rtl="0" algn="ctr">
              <a:lnSpc>
                <a:spcPct val="115000"/>
              </a:lnSpc>
              <a:spcBef>
                <a:spcPts val="500"/>
              </a:spcBef>
              <a:spcAft>
                <a:spcPts val="0"/>
              </a:spcAft>
              <a:buNone/>
            </a:pPr>
            <a:r>
              <a:rPr b="1" lang="en" sz="3061">
                <a:solidFill>
                  <a:srgbClr val="FF9900"/>
                </a:solidFill>
                <a:latin typeface="Roboto"/>
                <a:ea typeface="Roboto"/>
                <a:cs typeface="Roboto"/>
                <a:sym typeface="Roboto"/>
              </a:rPr>
              <a:t>EV Charging Station Optimization in Connecticut</a:t>
            </a:r>
            <a:endParaRPr b="1" sz="3061">
              <a:solidFill>
                <a:srgbClr val="FF9900"/>
              </a:solidFill>
              <a:latin typeface="Roboto"/>
              <a:ea typeface="Roboto"/>
              <a:cs typeface="Roboto"/>
              <a:sym typeface="Roboto"/>
            </a:endParaRPr>
          </a:p>
          <a:p>
            <a:pPr indent="0" lvl="0" marL="457200" rtl="0" algn="ctr">
              <a:lnSpc>
                <a:spcPct val="115000"/>
              </a:lnSpc>
              <a:spcBef>
                <a:spcPts val="500"/>
              </a:spcBef>
              <a:spcAft>
                <a:spcPts val="0"/>
              </a:spcAft>
              <a:buNone/>
            </a:pPr>
            <a:r>
              <a:rPr b="1" lang="en" sz="2094">
                <a:solidFill>
                  <a:srgbClr val="FFFF00"/>
                </a:solidFill>
                <a:latin typeface="Roboto"/>
                <a:ea typeface="Roboto"/>
                <a:cs typeface="Roboto"/>
                <a:sym typeface="Roboto"/>
              </a:rPr>
              <a:t>Utilizing Geospatial Data Science for Strategic Infrastructure Planning</a:t>
            </a:r>
            <a:endParaRPr b="1" sz="2094">
              <a:solidFill>
                <a:srgbClr val="FFFF00"/>
              </a:solidFill>
              <a:latin typeface="Roboto"/>
              <a:ea typeface="Roboto"/>
              <a:cs typeface="Roboto"/>
              <a:sym typeface="Roboto"/>
            </a:endParaRPr>
          </a:p>
          <a:p>
            <a:pPr indent="0" lvl="0" marL="0" rtl="0" algn="ctr">
              <a:spcBef>
                <a:spcPts val="500"/>
              </a:spcBef>
              <a:spcAft>
                <a:spcPts val="0"/>
              </a:spcAft>
              <a:buNone/>
            </a:pPr>
            <a:r>
              <a:t/>
            </a:r>
            <a:endParaRPr>
              <a:solidFill>
                <a:srgbClr val="FFFF00"/>
              </a:solidFill>
            </a:endParaRPr>
          </a:p>
        </p:txBody>
      </p:sp>
      <p:sp>
        <p:nvSpPr>
          <p:cNvPr id="57" name="Google Shape;57;p13"/>
          <p:cNvSpPr txBox="1"/>
          <p:nvPr>
            <p:ph idx="1" type="subTitle"/>
          </p:nvPr>
        </p:nvSpPr>
        <p:spPr>
          <a:xfrm>
            <a:off x="6438900" y="4350900"/>
            <a:ext cx="2841900" cy="792600"/>
          </a:xfrm>
          <a:prstGeom prst="rect">
            <a:avLst/>
          </a:prstGeom>
        </p:spPr>
        <p:txBody>
          <a:bodyPr anchorCtr="0" anchor="t" bIns="91425" lIns="91425" spcFirstLastPara="1" rIns="91425" wrap="square" tIns="91425">
            <a:normAutofit fontScale="25000" lnSpcReduction="20000"/>
          </a:bodyPr>
          <a:lstStyle/>
          <a:p>
            <a:pPr indent="0" lvl="0" marL="457200" rtl="0" algn="ctr">
              <a:lnSpc>
                <a:spcPct val="115000"/>
              </a:lnSpc>
              <a:spcBef>
                <a:spcPts val="500"/>
              </a:spcBef>
              <a:spcAft>
                <a:spcPts val="0"/>
              </a:spcAft>
              <a:buNone/>
            </a:pPr>
            <a:r>
              <a:rPr b="1" lang="en" sz="6221">
                <a:solidFill>
                  <a:schemeClr val="lt1"/>
                </a:solidFill>
                <a:latin typeface="Roboto"/>
                <a:ea typeface="Roboto"/>
                <a:cs typeface="Roboto"/>
                <a:sym typeface="Roboto"/>
              </a:rPr>
              <a:t>Muhammad Iqbal</a:t>
            </a:r>
            <a:endParaRPr b="1" sz="6221">
              <a:solidFill>
                <a:schemeClr val="lt1"/>
              </a:solidFill>
              <a:latin typeface="Roboto"/>
              <a:ea typeface="Roboto"/>
              <a:cs typeface="Roboto"/>
              <a:sym typeface="Roboto"/>
            </a:endParaRPr>
          </a:p>
          <a:p>
            <a:pPr indent="0" lvl="0" marL="457200" rtl="0" algn="ctr">
              <a:lnSpc>
                <a:spcPct val="115000"/>
              </a:lnSpc>
              <a:spcBef>
                <a:spcPts val="500"/>
              </a:spcBef>
              <a:spcAft>
                <a:spcPts val="0"/>
              </a:spcAft>
              <a:buNone/>
            </a:pPr>
            <a:r>
              <a:rPr b="1" lang="en" sz="6221">
                <a:solidFill>
                  <a:schemeClr val="lt1"/>
                </a:solidFill>
                <a:latin typeface="Roboto"/>
                <a:ea typeface="Roboto"/>
                <a:cs typeface="Roboto"/>
                <a:sym typeface="Roboto"/>
              </a:rPr>
              <a:t>23/01/2025</a:t>
            </a:r>
            <a:endParaRPr b="1" sz="6221">
              <a:solidFill>
                <a:schemeClr val="lt1"/>
              </a:solidFill>
              <a:latin typeface="Roboto"/>
              <a:ea typeface="Roboto"/>
              <a:cs typeface="Roboto"/>
              <a:sym typeface="Roboto"/>
            </a:endParaRPr>
          </a:p>
          <a:p>
            <a:pPr indent="0" lvl="0" marL="0" rtl="0" algn="ctr">
              <a:spcBef>
                <a:spcPts val="500"/>
              </a:spcBef>
              <a:spcAft>
                <a:spcPts val="0"/>
              </a:spcAft>
              <a:buNone/>
            </a:pPr>
            <a:r>
              <a:t/>
            </a:r>
            <a:endParaRPr/>
          </a:p>
        </p:txBody>
      </p:sp>
      <p:pic>
        <p:nvPicPr>
          <p:cNvPr id="58" name="Google Shape;58;p13"/>
          <p:cNvPicPr preferRelativeResize="0"/>
          <p:nvPr/>
        </p:nvPicPr>
        <p:blipFill>
          <a:blip r:embed="rId5">
            <a:alphaModFix/>
          </a:blip>
          <a:stretch>
            <a:fillRect/>
          </a:stretch>
        </p:blipFill>
        <p:spPr>
          <a:xfrm>
            <a:off x="44998" y="4518050"/>
            <a:ext cx="1717376" cy="5567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500"/>
              </a:spcBef>
              <a:spcAft>
                <a:spcPts val="500"/>
              </a:spcAft>
              <a:buClr>
                <a:schemeClr val="dk1"/>
              </a:buClr>
              <a:buSzPts val="1100"/>
              <a:buFont typeface="Arial"/>
              <a:buNone/>
            </a:pPr>
            <a:r>
              <a:rPr b="1" lang="en" sz="2400">
                <a:latin typeface="Roboto"/>
                <a:ea typeface="Roboto"/>
                <a:cs typeface="Roboto"/>
                <a:sym typeface="Roboto"/>
              </a:rPr>
              <a:t> </a:t>
            </a:r>
            <a:r>
              <a:rPr b="1" lang="en" sz="2400">
                <a:solidFill>
                  <a:srgbClr val="FF9900"/>
                </a:solidFill>
                <a:latin typeface="Roboto"/>
                <a:ea typeface="Roboto"/>
                <a:cs typeface="Roboto"/>
                <a:sym typeface="Roboto"/>
              </a:rPr>
              <a:t>Problem and Approach</a:t>
            </a:r>
            <a:endParaRPr sz="2400">
              <a:solidFill>
                <a:srgbClr val="FF9900"/>
              </a:solidFill>
            </a:endParaRPr>
          </a:p>
        </p:txBody>
      </p:sp>
      <p:sp>
        <p:nvSpPr>
          <p:cNvPr id="64" name="Google Shape;64;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spcBef>
                <a:spcPts val="50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Title</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Identifying Optimal EV Charging Station Locations</a:t>
            </a:r>
            <a:endParaRPr sz="1900">
              <a:solidFill>
                <a:schemeClr val="lt1"/>
              </a:solidFill>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Problem</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Inefficient distribution of existing charging stations, leading to accessibility challenges and underserved areas.</a:t>
            </a:r>
            <a:endParaRPr sz="1900">
              <a:solidFill>
                <a:schemeClr val="lt1"/>
              </a:solidFill>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Approach</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Leverage geospatial data science and machine learning to identify optimal locations for new charging stations, maximizing accessibility and utilization.</a:t>
            </a:r>
            <a:endParaRPr sz="19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Clr>
                <a:schemeClr val="dk1"/>
              </a:buClr>
              <a:buSzPts val="1100"/>
              <a:buFont typeface="Arial"/>
              <a:buNone/>
            </a:pPr>
            <a:r>
              <a:rPr b="1" lang="en" sz="2400">
                <a:latin typeface="Roboto"/>
                <a:ea typeface="Roboto"/>
                <a:cs typeface="Roboto"/>
                <a:sym typeface="Roboto"/>
              </a:rPr>
              <a:t> </a:t>
            </a:r>
            <a:r>
              <a:rPr b="1" lang="en" sz="2400">
                <a:solidFill>
                  <a:srgbClr val="FF9900"/>
                </a:solidFill>
                <a:latin typeface="Roboto"/>
                <a:ea typeface="Roboto"/>
                <a:cs typeface="Roboto"/>
                <a:sym typeface="Roboto"/>
              </a:rPr>
              <a:t>Data and Preprocessing</a:t>
            </a:r>
            <a:endParaRPr b="1" sz="2400">
              <a:solidFill>
                <a:srgbClr val="FF9900"/>
              </a:solidFill>
              <a:latin typeface="Roboto"/>
              <a:ea typeface="Roboto"/>
              <a:cs typeface="Roboto"/>
              <a:sym typeface="Roboto"/>
            </a:endParaRPr>
          </a:p>
          <a:p>
            <a:pPr indent="0" lvl="0" marL="0" rtl="0" algn="l">
              <a:spcBef>
                <a:spcPts val="500"/>
              </a:spcBef>
              <a:spcAft>
                <a:spcPts val="0"/>
              </a:spcAft>
              <a:buNone/>
            </a:pPr>
            <a:r>
              <a:t/>
            </a:r>
            <a:endParaRPr sz="2400"/>
          </a:p>
        </p:txBody>
      </p:sp>
      <p:sp>
        <p:nvSpPr>
          <p:cNvPr id="70" name="Google Shape;70;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spcBef>
                <a:spcPts val="50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Title</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Data Foundation</a:t>
            </a:r>
            <a:endParaRPr sz="1900">
              <a:solidFill>
                <a:schemeClr val="lt1"/>
              </a:solidFill>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Data Source</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Electric_Vehicle_Charging_Stations.csv</a:t>
            </a:r>
            <a:endParaRPr sz="1900">
              <a:solidFill>
                <a:schemeClr val="lt1"/>
              </a:solidFill>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Key Features</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Station Name, City, Location (new georeference), EV Level1 EVSE Num, EV Level2 EVSE Num, EV DC Fast Count, EV Other Info.</a:t>
            </a:r>
            <a:endParaRPr sz="1900">
              <a:solidFill>
                <a:schemeClr val="lt1"/>
              </a:solidFill>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Preprocessing</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Data cleaning, geometry validation, feature engineering (station name, city, location (new georeference column ).</a:t>
            </a:r>
            <a:endParaRPr sz="19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4" name="Shape 74"/>
        <p:cNvGrpSpPr/>
        <p:nvPr/>
      </p:nvGrpSpPr>
      <p:grpSpPr>
        <a:xfrm>
          <a:off x="0" y="0"/>
          <a:ext cx="0" cy="0"/>
          <a:chOff x="0" y="0"/>
          <a:chExt cx="0" cy="0"/>
        </a:xfrm>
      </p:grpSpPr>
      <p:sp>
        <p:nvSpPr>
          <p:cNvPr id="75" name="Google Shape;75;p16"/>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lnSpc>
                <a:spcPct val="115000"/>
              </a:lnSpc>
              <a:spcBef>
                <a:spcPts val="500"/>
              </a:spcBef>
              <a:spcAft>
                <a:spcPts val="500"/>
              </a:spcAft>
              <a:buClr>
                <a:schemeClr val="dk1"/>
              </a:buClr>
              <a:buSzPts val="1100"/>
              <a:buFont typeface="Arial"/>
              <a:buNone/>
            </a:pPr>
            <a:r>
              <a:rPr b="1" lang="en" sz="2400">
                <a:latin typeface="Roboto"/>
                <a:ea typeface="Roboto"/>
                <a:cs typeface="Roboto"/>
                <a:sym typeface="Roboto"/>
              </a:rPr>
              <a:t> </a:t>
            </a:r>
            <a:r>
              <a:rPr b="1" lang="en" sz="2400">
                <a:solidFill>
                  <a:srgbClr val="FF9900"/>
                </a:solidFill>
                <a:latin typeface="Roboto"/>
                <a:ea typeface="Roboto"/>
                <a:cs typeface="Roboto"/>
                <a:sym typeface="Roboto"/>
              </a:rPr>
              <a:t>Clustering</a:t>
            </a:r>
            <a:endParaRPr sz="2400">
              <a:solidFill>
                <a:srgbClr val="FF9900"/>
              </a:solidFill>
            </a:endParaRPr>
          </a:p>
        </p:txBody>
      </p:sp>
      <p:sp>
        <p:nvSpPr>
          <p:cNvPr id="76" name="Google Shape;76;p16"/>
          <p:cNvSpPr txBox="1"/>
          <p:nvPr>
            <p:ph idx="1" type="body"/>
          </p:nvPr>
        </p:nvSpPr>
        <p:spPr>
          <a:xfrm>
            <a:off x="311700" y="1389600"/>
            <a:ext cx="2808000" cy="3179400"/>
          </a:xfrm>
          <a:prstGeom prst="rect">
            <a:avLst/>
          </a:prstGeom>
        </p:spPr>
        <p:txBody>
          <a:bodyPr anchorCtr="0" anchor="t" bIns="91425" lIns="91425" spcFirstLastPara="1" rIns="91425" wrap="square" tIns="91425">
            <a:normAutofit fontScale="77500" lnSpcReduction="20000"/>
          </a:bodyPr>
          <a:lstStyle/>
          <a:p>
            <a:pPr indent="-322103" lvl="0" marL="457200" rtl="0" algn="l">
              <a:spcBef>
                <a:spcPts val="500"/>
              </a:spcBef>
              <a:spcAft>
                <a:spcPts val="0"/>
              </a:spcAft>
              <a:buClr>
                <a:schemeClr val="lt1"/>
              </a:buClr>
              <a:buSzPct val="100000"/>
              <a:buFont typeface="Roboto"/>
              <a:buChar char="●"/>
            </a:pPr>
            <a:r>
              <a:rPr b="1" lang="en" sz="1900">
                <a:solidFill>
                  <a:srgbClr val="FFFF00"/>
                </a:solidFill>
                <a:latin typeface="Roboto"/>
                <a:ea typeface="Roboto"/>
                <a:cs typeface="Roboto"/>
                <a:sym typeface="Roboto"/>
              </a:rPr>
              <a:t>Title</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Identifying Demand Clusters</a:t>
            </a:r>
            <a:endParaRPr sz="1900">
              <a:solidFill>
                <a:schemeClr val="lt1"/>
              </a:solidFill>
              <a:latin typeface="Roboto"/>
              <a:ea typeface="Roboto"/>
              <a:cs typeface="Roboto"/>
              <a:sym typeface="Roboto"/>
            </a:endParaRPr>
          </a:p>
          <a:p>
            <a:pPr indent="-322103" lvl="0" marL="457200" rtl="0" algn="l">
              <a:spcBef>
                <a:spcPts val="0"/>
              </a:spcBef>
              <a:spcAft>
                <a:spcPts val="0"/>
              </a:spcAft>
              <a:buClr>
                <a:schemeClr val="lt1"/>
              </a:buClr>
              <a:buSzPct val="100000"/>
              <a:buFont typeface="Roboto"/>
              <a:buChar char="●"/>
            </a:pPr>
            <a:r>
              <a:rPr b="1" lang="en" sz="1900">
                <a:solidFill>
                  <a:srgbClr val="FFFF00"/>
                </a:solidFill>
                <a:latin typeface="Roboto"/>
                <a:ea typeface="Roboto"/>
                <a:cs typeface="Roboto"/>
                <a:sym typeface="Roboto"/>
              </a:rPr>
              <a:t>Algorithm</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DBSCAN (Density-Based Spatial Clustering of Applications with Noise)</a:t>
            </a:r>
            <a:endParaRPr sz="1900">
              <a:solidFill>
                <a:schemeClr val="lt1"/>
              </a:solidFill>
              <a:latin typeface="Roboto"/>
              <a:ea typeface="Roboto"/>
              <a:cs typeface="Roboto"/>
              <a:sym typeface="Roboto"/>
            </a:endParaRPr>
          </a:p>
          <a:p>
            <a:pPr indent="-322103" lvl="0" marL="457200" rtl="0" algn="l">
              <a:spcBef>
                <a:spcPts val="0"/>
              </a:spcBef>
              <a:spcAft>
                <a:spcPts val="0"/>
              </a:spcAft>
              <a:buClr>
                <a:schemeClr val="lt1"/>
              </a:buClr>
              <a:buSzPct val="100000"/>
              <a:buFont typeface="Roboto"/>
              <a:buChar char="●"/>
            </a:pPr>
            <a:r>
              <a:rPr b="1" lang="en" sz="1900">
                <a:solidFill>
                  <a:srgbClr val="FFFF00"/>
                </a:solidFill>
                <a:latin typeface="Roboto"/>
                <a:ea typeface="Roboto"/>
                <a:cs typeface="Roboto"/>
                <a:sym typeface="Roboto"/>
              </a:rPr>
              <a:t>Purpose</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Group charging stations based on geographic proximity to identify areas of high demand.</a:t>
            </a:r>
            <a:endParaRPr sz="1900">
              <a:solidFill>
                <a:schemeClr val="lt1"/>
              </a:solidFill>
              <a:latin typeface="Roboto"/>
              <a:ea typeface="Roboto"/>
              <a:cs typeface="Roboto"/>
              <a:sym typeface="Roboto"/>
            </a:endParaRPr>
          </a:p>
          <a:p>
            <a:pPr indent="-322103" lvl="0" marL="457200" rtl="0" algn="l">
              <a:spcBef>
                <a:spcPts val="0"/>
              </a:spcBef>
              <a:spcAft>
                <a:spcPts val="0"/>
              </a:spcAft>
              <a:buClr>
                <a:schemeClr val="lt1"/>
              </a:buClr>
              <a:buSzPct val="100000"/>
              <a:buFont typeface="Roboto"/>
              <a:buChar char="●"/>
            </a:pPr>
            <a:r>
              <a:rPr b="1" lang="en" sz="1900">
                <a:solidFill>
                  <a:srgbClr val="FFFF00"/>
                </a:solidFill>
                <a:latin typeface="Roboto"/>
                <a:ea typeface="Roboto"/>
                <a:cs typeface="Roboto"/>
                <a:sym typeface="Roboto"/>
              </a:rPr>
              <a:t>Visualization</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Map highlighting clusters and station locations.</a:t>
            </a:r>
            <a:endParaRPr sz="1900">
              <a:solidFill>
                <a:schemeClr val="lt1"/>
              </a:solidFill>
            </a:endParaRPr>
          </a:p>
        </p:txBody>
      </p:sp>
      <p:pic>
        <p:nvPicPr>
          <p:cNvPr id="77" name="Google Shape;77;p16"/>
          <p:cNvPicPr preferRelativeResize="0"/>
          <p:nvPr/>
        </p:nvPicPr>
        <p:blipFill>
          <a:blip r:embed="rId3">
            <a:alphaModFix/>
          </a:blip>
          <a:stretch>
            <a:fillRect/>
          </a:stretch>
        </p:blipFill>
        <p:spPr>
          <a:xfrm>
            <a:off x="3272100" y="614000"/>
            <a:ext cx="5719499" cy="433586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1" name="Shape 81"/>
        <p:cNvGrpSpPr/>
        <p:nvPr/>
      </p:nvGrpSpPr>
      <p:grpSpPr>
        <a:xfrm>
          <a:off x="0" y="0"/>
          <a:ext cx="0" cy="0"/>
          <a:chOff x="0" y="0"/>
          <a:chExt cx="0" cy="0"/>
        </a:xfrm>
      </p:grpSpPr>
      <p:sp>
        <p:nvSpPr>
          <p:cNvPr id="82" name="Google Shape;82;p17"/>
          <p:cNvSpPr txBox="1"/>
          <p:nvPr>
            <p:ph type="title"/>
          </p:nvPr>
        </p:nvSpPr>
        <p:spPr>
          <a:xfrm>
            <a:off x="311700" y="555600"/>
            <a:ext cx="2808000" cy="7557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500"/>
              </a:spcBef>
              <a:spcAft>
                <a:spcPts val="500"/>
              </a:spcAft>
              <a:buClr>
                <a:schemeClr val="dk1"/>
              </a:buClr>
              <a:buSzPct val="45833"/>
              <a:buFont typeface="Arial"/>
              <a:buNone/>
            </a:pPr>
            <a:r>
              <a:rPr b="1" lang="en" sz="2400">
                <a:solidFill>
                  <a:srgbClr val="FF9900"/>
                </a:solidFill>
                <a:latin typeface="Roboto"/>
                <a:ea typeface="Roboto"/>
                <a:cs typeface="Roboto"/>
                <a:sym typeface="Roboto"/>
              </a:rPr>
              <a:t>Predictive Modeling</a:t>
            </a:r>
            <a:endParaRPr sz="2400">
              <a:solidFill>
                <a:srgbClr val="FF9900"/>
              </a:solidFill>
            </a:endParaRPr>
          </a:p>
        </p:txBody>
      </p:sp>
      <p:sp>
        <p:nvSpPr>
          <p:cNvPr id="83" name="Google Shape;83;p1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fontScale="77500" lnSpcReduction="20000"/>
          </a:bodyPr>
          <a:lstStyle/>
          <a:p>
            <a:pPr indent="-322103" lvl="0" marL="457200" rtl="0" algn="l">
              <a:spcBef>
                <a:spcPts val="500"/>
              </a:spcBef>
              <a:spcAft>
                <a:spcPts val="0"/>
              </a:spcAft>
              <a:buClr>
                <a:schemeClr val="lt1"/>
              </a:buClr>
              <a:buSzPct val="100000"/>
              <a:buFont typeface="Roboto"/>
              <a:buChar char="●"/>
            </a:pPr>
            <a:r>
              <a:rPr b="1" lang="en" sz="1900">
                <a:solidFill>
                  <a:srgbClr val="FFFF00"/>
                </a:solidFill>
                <a:latin typeface="Roboto"/>
                <a:ea typeface="Roboto"/>
                <a:cs typeface="Roboto"/>
                <a:sym typeface="Roboto"/>
              </a:rPr>
              <a:t>Title</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Predicting Charging Station Needs</a:t>
            </a:r>
            <a:endParaRPr sz="1900">
              <a:solidFill>
                <a:schemeClr val="lt1"/>
              </a:solidFill>
              <a:latin typeface="Roboto"/>
              <a:ea typeface="Roboto"/>
              <a:cs typeface="Roboto"/>
              <a:sym typeface="Roboto"/>
            </a:endParaRPr>
          </a:p>
          <a:p>
            <a:pPr indent="-322103" lvl="0" marL="457200" rtl="0" algn="l">
              <a:spcBef>
                <a:spcPts val="0"/>
              </a:spcBef>
              <a:spcAft>
                <a:spcPts val="0"/>
              </a:spcAft>
              <a:buClr>
                <a:schemeClr val="lt1"/>
              </a:buClr>
              <a:buSzPct val="100000"/>
              <a:buFont typeface="Roboto"/>
              <a:buChar char="●"/>
            </a:pPr>
            <a:r>
              <a:rPr b="1" lang="en" sz="1900">
                <a:solidFill>
                  <a:srgbClr val="FFFF00"/>
                </a:solidFill>
                <a:latin typeface="Roboto"/>
                <a:ea typeface="Roboto"/>
                <a:cs typeface="Roboto"/>
                <a:sym typeface="Roboto"/>
              </a:rPr>
              <a:t>Model</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Random Forest Regression</a:t>
            </a:r>
            <a:endParaRPr sz="1900">
              <a:solidFill>
                <a:schemeClr val="lt1"/>
              </a:solidFill>
              <a:latin typeface="Roboto"/>
              <a:ea typeface="Roboto"/>
              <a:cs typeface="Roboto"/>
              <a:sym typeface="Roboto"/>
            </a:endParaRPr>
          </a:p>
          <a:p>
            <a:pPr indent="-322103" lvl="0" marL="457200" rtl="0" algn="l">
              <a:spcBef>
                <a:spcPts val="0"/>
              </a:spcBef>
              <a:spcAft>
                <a:spcPts val="0"/>
              </a:spcAft>
              <a:buClr>
                <a:schemeClr val="lt1"/>
              </a:buClr>
              <a:buSzPct val="100000"/>
              <a:buFont typeface="Roboto"/>
              <a:buChar char="●"/>
            </a:pPr>
            <a:r>
              <a:rPr b="1" lang="en" sz="1900">
                <a:solidFill>
                  <a:srgbClr val="FFFF00"/>
                </a:solidFill>
                <a:latin typeface="Roboto"/>
                <a:ea typeface="Roboto"/>
                <a:cs typeface="Roboto"/>
                <a:sym typeface="Roboto"/>
              </a:rPr>
              <a:t>Features</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Station Name, City, New Georeference Column.</a:t>
            </a:r>
            <a:endParaRPr sz="1900">
              <a:solidFill>
                <a:schemeClr val="lt1"/>
              </a:solidFill>
              <a:latin typeface="Roboto"/>
              <a:ea typeface="Roboto"/>
              <a:cs typeface="Roboto"/>
              <a:sym typeface="Roboto"/>
            </a:endParaRPr>
          </a:p>
          <a:p>
            <a:pPr indent="-322103" lvl="0" marL="457200" rtl="0" algn="l">
              <a:spcBef>
                <a:spcPts val="0"/>
              </a:spcBef>
              <a:spcAft>
                <a:spcPts val="0"/>
              </a:spcAft>
              <a:buClr>
                <a:schemeClr val="lt1"/>
              </a:buClr>
              <a:buSzPct val="100000"/>
              <a:buFont typeface="Roboto"/>
              <a:buChar char="●"/>
            </a:pPr>
            <a:r>
              <a:rPr b="1" lang="en" sz="1900">
                <a:solidFill>
                  <a:srgbClr val="FFFF00"/>
                </a:solidFill>
                <a:latin typeface="Roboto"/>
                <a:ea typeface="Roboto"/>
                <a:cs typeface="Roboto"/>
                <a:sym typeface="Roboto"/>
              </a:rPr>
              <a:t>Target Variables</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EV Level1 EVSE Num, EV Level2 EVSE Num, EV DC Fast Count, EV Other Info.</a:t>
            </a:r>
            <a:endParaRPr sz="1900">
              <a:solidFill>
                <a:schemeClr val="lt1"/>
              </a:solidFill>
              <a:latin typeface="Roboto"/>
              <a:ea typeface="Roboto"/>
              <a:cs typeface="Roboto"/>
              <a:sym typeface="Roboto"/>
            </a:endParaRPr>
          </a:p>
          <a:p>
            <a:pPr indent="-322103" lvl="0" marL="457200" rtl="0" algn="l">
              <a:spcBef>
                <a:spcPts val="0"/>
              </a:spcBef>
              <a:spcAft>
                <a:spcPts val="0"/>
              </a:spcAft>
              <a:buClr>
                <a:schemeClr val="lt1"/>
              </a:buClr>
              <a:buSzPct val="100000"/>
              <a:buFont typeface="Roboto"/>
              <a:buChar char="●"/>
            </a:pPr>
            <a:r>
              <a:rPr b="1" lang="en" sz="1900">
                <a:solidFill>
                  <a:srgbClr val="FFFF00"/>
                </a:solidFill>
                <a:latin typeface="Roboto"/>
                <a:ea typeface="Roboto"/>
                <a:cs typeface="Roboto"/>
                <a:sym typeface="Roboto"/>
              </a:rPr>
              <a:t>Evaluation Metric</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Root Mean Squared Error (RMSE).</a:t>
            </a:r>
            <a:endParaRPr sz="1900">
              <a:solidFill>
                <a:schemeClr val="lt1"/>
              </a:solidFill>
            </a:endParaRPr>
          </a:p>
        </p:txBody>
      </p:sp>
      <p:pic>
        <p:nvPicPr>
          <p:cNvPr id="84" name="Google Shape;84;p17"/>
          <p:cNvPicPr preferRelativeResize="0"/>
          <p:nvPr/>
        </p:nvPicPr>
        <p:blipFill>
          <a:blip r:embed="rId3">
            <a:alphaModFix/>
          </a:blip>
          <a:stretch>
            <a:fillRect/>
          </a:stretch>
        </p:blipFill>
        <p:spPr>
          <a:xfrm>
            <a:off x="3182950" y="206375"/>
            <a:ext cx="5874601" cy="46831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500"/>
              </a:spcBef>
              <a:spcAft>
                <a:spcPts val="500"/>
              </a:spcAft>
              <a:buClr>
                <a:schemeClr val="dk1"/>
              </a:buClr>
              <a:buSzPts val="1100"/>
              <a:buFont typeface="Arial"/>
              <a:buNone/>
            </a:pPr>
            <a:r>
              <a:rPr b="1" lang="en" sz="2400">
                <a:solidFill>
                  <a:srgbClr val="FF9900"/>
                </a:solidFill>
                <a:latin typeface="Roboto"/>
                <a:ea typeface="Roboto"/>
                <a:cs typeface="Roboto"/>
                <a:sym typeface="Roboto"/>
              </a:rPr>
              <a:t>Model Insights and Recommendations</a:t>
            </a:r>
            <a:endParaRPr sz="2400">
              <a:solidFill>
                <a:srgbClr val="FF9900"/>
              </a:solidFill>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spcBef>
                <a:spcPts val="50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Title</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Optimizing Infrastructure Investments</a:t>
            </a:r>
            <a:endParaRPr sz="1900">
              <a:solidFill>
                <a:schemeClr val="lt1"/>
              </a:solidFill>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Key Findings</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Clusters with higher population density and income predicted by station name, and city exhibit greater demand.</a:t>
            </a:r>
            <a:endParaRPr sz="1900">
              <a:solidFill>
                <a:schemeClr val="lt1"/>
              </a:solidFill>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Recommendations</a:t>
            </a:r>
            <a:r>
              <a:rPr b="1" lang="en" sz="1900">
                <a:solidFill>
                  <a:schemeClr val="lt1"/>
                </a:solidFill>
                <a:latin typeface="Roboto"/>
                <a:ea typeface="Roboto"/>
                <a:cs typeface="Roboto"/>
                <a:sym typeface="Roboto"/>
              </a:rPr>
              <a:t>:</a:t>
            </a:r>
            <a:endParaRPr b="1" sz="1900">
              <a:solidFill>
                <a:schemeClr val="lt1"/>
              </a:solidFill>
              <a:latin typeface="Roboto"/>
              <a:ea typeface="Roboto"/>
              <a:cs typeface="Roboto"/>
              <a:sym typeface="Roboto"/>
            </a:endParaRPr>
          </a:p>
          <a:p>
            <a:pPr indent="-349250" lvl="1" marL="914400" rtl="0" algn="l">
              <a:spcBef>
                <a:spcPts val="0"/>
              </a:spcBef>
              <a:spcAft>
                <a:spcPts val="0"/>
              </a:spcAft>
              <a:buClr>
                <a:schemeClr val="lt1"/>
              </a:buClr>
              <a:buSzPts val="1900"/>
              <a:buFont typeface="Roboto"/>
              <a:buChar char="○"/>
            </a:pPr>
            <a:r>
              <a:rPr lang="en" sz="1900">
                <a:solidFill>
                  <a:schemeClr val="lt1"/>
                </a:solidFill>
                <a:latin typeface="Roboto"/>
                <a:ea typeface="Roboto"/>
                <a:cs typeface="Roboto"/>
                <a:sym typeface="Roboto"/>
              </a:rPr>
              <a:t>Prioritize high-demand clusters for new installations.</a:t>
            </a:r>
            <a:endParaRPr sz="1900">
              <a:solidFill>
                <a:schemeClr val="lt1"/>
              </a:solidFill>
              <a:latin typeface="Roboto"/>
              <a:ea typeface="Roboto"/>
              <a:cs typeface="Roboto"/>
              <a:sym typeface="Roboto"/>
            </a:endParaRPr>
          </a:p>
          <a:p>
            <a:pPr indent="-349250" lvl="1" marL="914400" rtl="0" algn="l">
              <a:spcBef>
                <a:spcPts val="0"/>
              </a:spcBef>
              <a:spcAft>
                <a:spcPts val="0"/>
              </a:spcAft>
              <a:buClr>
                <a:schemeClr val="lt1"/>
              </a:buClr>
              <a:buSzPts val="1900"/>
              <a:buFont typeface="Roboto"/>
              <a:buChar char="○"/>
            </a:pPr>
            <a:r>
              <a:rPr lang="en" sz="1900">
                <a:solidFill>
                  <a:schemeClr val="lt1"/>
                </a:solidFill>
                <a:latin typeface="Roboto"/>
                <a:ea typeface="Roboto"/>
                <a:cs typeface="Roboto"/>
                <a:sym typeface="Roboto"/>
              </a:rPr>
              <a:t>Address underserved areas to ensure equitable access.</a:t>
            </a:r>
            <a:endParaRPr sz="1900">
              <a:solidFill>
                <a:schemeClr val="lt1"/>
              </a:solidFill>
              <a:latin typeface="Roboto"/>
              <a:ea typeface="Roboto"/>
              <a:cs typeface="Roboto"/>
              <a:sym typeface="Roboto"/>
            </a:endParaRPr>
          </a:p>
          <a:p>
            <a:pPr indent="-349250" lvl="1" marL="914400" rtl="0" algn="l">
              <a:spcBef>
                <a:spcPts val="0"/>
              </a:spcBef>
              <a:spcAft>
                <a:spcPts val="0"/>
              </a:spcAft>
              <a:buClr>
                <a:schemeClr val="lt1"/>
              </a:buClr>
              <a:buSzPts val="1900"/>
              <a:buFont typeface="Roboto"/>
              <a:buChar char="○"/>
            </a:pPr>
            <a:r>
              <a:rPr lang="en" sz="1900">
                <a:solidFill>
                  <a:schemeClr val="lt1"/>
                </a:solidFill>
                <a:latin typeface="Roboto"/>
                <a:ea typeface="Roboto"/>
                <a:cs typeface="Roboto"/>
                <a:sym typeface="Roboto"/>
              </a:rPr>
              <a:t>Consider strategic placement near amenities and transportation routes.</a:t>
            </a:r>
            <a:endParaRPr sz="1900">
              <a:solidFill>
                <a:schemeClr val="lt1"/>
              </a:solidFill>
              <a:latin typeface="Roboto"/>
              <a:ea typeface="Roboto"/>
              <a:cs typeface="Roboto"/>
              <a:sym typeface="Roboto"/>
            </a:endParaRPr>
          </a:p>
          <a:p>
            <a:pPr indent="-349250" lvl="1" marL="914400" rtl="0" algn="l">
              <a:spcBef>
                <a:spcPts val="0"/>
              </a:spcBef>
              <a:spcAft>
                <a:spcPts val="0"/>
              </a:spcAft>
              <a:buClr>
                <a:schemeClr val="lt1"/>
              </a:buClr>
              <a:buSzPts val="1900"/>
              <a:buFont typeface="Roboto"/>
              <a:buChar char="○"/>
            </a:pPr>
            <a:r>
              <a:rPr lang="en" sz="1900">
                <a:solidFill>
                  <a:schemeClr val="lt1"/>
                </a:solidFill>
                <a:latin typeface="Roboto"/>
                <a:ea typeface="Roboto"/>
                <a:cs typeface="Roboto"/>
                <a:sym typeface="Roboto"/>
              </a:rPr>
              <a:t>Data-driven decisions on the type and number of charging stations.</a:t>
            </a:r>
            <a:endParaRPr sz="19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500"/>
              </a:spcBef>
              <a:spcAft>
                <a:spcPts val="500"/>
              </a:spcAft>
              <a:buClr>
                <a:schemeClr val="dk1"/>
              </a:buClr>
              <a:buSzPts val="1100"/>
              <a:buFont typeface="Arial"/>
              <a:buNone/>
            </a:pPr>
            <a:r>
              <a:rPr b="1" lang="en" sz="2400">
                <a:latin typeface="Roboto"/>
                <a:ea typeface="Roboto"/>
                <a:cs typeface="Roboto"/>
                <a:sym typeface="Roboto"/>
              </a:rPr>
              <a:t> </a:t>
            </a:r>
            <a:r>
              <a:rPr b="1" lang="en" sz="2400">
                <a:solidFill>
                  <a:srgbClr val="FF9900"/>
                </a:solidFill>
                <a:latin typeface="Roboto"/>
                <a:ea typeface="Roboto"/>
                <a:cs typeface="Roboto"/>
                <a:sym typeface="Roboto"/>
              </a:rPr>
              <a:t>Limitations and Future Work</a:t>
            </a:r>
            <a:endParaRPr sz="2400">
              <a:solidFill>
                <a:srgbClr val="FF9900"/>
              </a:solidFill>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spcBef>
                <a:spcPts val="50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Title</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Continual Improvement and Refinement</a:t>
            </a:r>
            <a:endParaRPr sz="1900">
              <a:solidFill>
                <a:schemeClr val="lt1"/>
              </a:solidFill>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Limitations</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Data availability, model refinement, spatial considerations, user feedback.</a:t>
            </a:r>
            <a:endParaRPr sz="1900">
              <a:solidFill>
                <a:schemeClr val="lt1"/>
              </a:solidFill>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Future Work</a:t>
            </a:r>
            <a:r>
              <a:rPr b="1" lang="en" sz="1900">
                <a:solidFill>
                  <a:schemeClr val="lt1"/>
                </a:solidFill>
                <a:latin typeface="Roboto"/>
                <a:ea typeface="Roboto"/>
                <a:cs typeface="Roboto"/>
                <a:sym typeface="Roboto"/>
              </a:rPr>
              <a:t>:</a:t>
            </a:r>
            <a:endParaRPr b="1" sz="1900">
              <a:solidFill>
                <a:schemeClr val="lt1"/>
              </a:solidFill>
              <a:latin typeface="Roboto"/>
              <a:ea typeface="Roboto"/>
              <a:cs typeface="Roboto"/>
              <a:sym typeface="Roboto"/>
            </a:endParaRPr>
          </a:p>
          <a:p>
            <a:pPr indent="-349250" lvl="1" marL="914400" rtl="0" algn="l">
              <a:spcBef>
                <a:spcPts val="0"/>
              </a:spcBef>
              <a:spcAft>
                <a:spcPts val="0"/>
              </a:spcAft>
              <a:buClr>
                <a:schemeClr val="lt1"/>
              </a:buClr>
              <a:buSzPts val="1900"/>
              <a:buFont typeface="Roboto"/>
              <a:buChar char="○"/>
            </a:pPr>
            <a:r>
              <a:rPr lang="en" sz="1900">
                <a:solidFill>
                  <a:schemeClr val="lt1"/>
                </a:solidFill>
                <a:latin typeface="Roboto"/>
                <a:ea typeface="Roboto"/>
                <a:cs typeface="Roboto"/>
                <a:sym typeface="Roboto"/>
              </a:rPr>
              <a:t>Incorporate additional datasets (usage, traffic patterns, demographics).</a:t>
            </a:r>
            <a:endParaRPr sz="1900">
              <a:solidFill>
                <a:schemeClr val="lt1"/>
              </a:solidFill>
              <a:latin typeface="Roboto"/>
              <a:ea typeface="Roboto"/>
              <a:cs typeface="Roboto"/>
              <a:sym typeface="Roboto"/>
            </a:endParaRPr>
          </a:p>
          <a:p>
            <a:pPr indent="-349250" lvl="1" marL="914400" rtl="0" algn="l">
              <a:spcBef>
                <a:spcPts val="0"/>
              </a:spcBef>
              <a:spcAft>
                <a:spcPts val="0"/>
              </a:spcAft>
              <a:buClr>
                <a:schemeClr val="lt1"/>
              </a:buClr>
              <a:buSzPts val="1900"/>
              <a:buFont typeface="Roboto"/>
              <a:buChar char="○"/>
            </a:pPr>
            <a:r>
              <a:rPr lang="en" sz="1900">
                <a:solidFill>
                  <a:schemeClr val="lt1"/>
                </a:solidFill>
                <a:latin typeface="Roboto"/>
                <a:ea typeface="Roboto"/>
                <a:cs typeface="Roboto"/>
                <a:sym typeface="Roboto"/>
              </a:rPr>
              <a:t>Explore alternative machine learning algorithms.</a:t>
            </a:r>
            <a:endParaRPr sz="1900">
              <a:solidFill>
                <a:schemeClr val="lt1"/>
              </a:solidFill>
              <a:latin typeface="Roboto"/>
              <a:ea typeface="Roboto"/>
              <a:cs typeface="Roboto"/>
              <a:sym typeface="Roboto"/>
            </a:endParaRPr>
          </a:p>
          <a:p>
            <a:pPr indent="-349250" lvl="1" marL="914400" rtl="0" algn="l">
              <a:spcBef>
                <a:spcPts val="0"/>
              </a:spcBef>
              <a:spcAft>
                <a:spcPts val="0"/>
              </a:spcAft>
              <a:buClr>
                <a:schemeClr val="lt1"/>
              </a:buClr>
              <a:buSzPts val="1900"/>
              <a:buFont typeface="Roboto"/>
              <a:buChar char="○"/>
            </a:pPr>
            <a:r>
              <a:rPr lang="en" sz="1900">
                <a:solidFill>
                  <a:schemeClr val="lt1"/>
                </a:solidFill>
                <a:latin typeface="Roboto"/>
                <a:ea typeface="Roboto"/>
                <a:cs typeface="Roboto"/>
                <a:sym typeface="Roboto"/>
              </a:rPr>
              <a:t>Integrate detailed spatial considerations (land use, zoning).</a:t>
            </a:r>
            <a:endParaRPr sz="1900">
              <a:solidFill>
                <a:schemeClr val="lt1"/>
              </a:solidFill>
              <a:latin typeface="Roboto"/>
              <a:ea typeface="Roboto"/>
              <a:cs typeface="Roboto"/>
              <a:sym typeface="Roboto"/>
            </a:endParaRPr>
          </a:p>
          <a:p>
            <a:pPr indent="-349250" lvl="1" marL="914400" rtl="0" algn="l">
              <a:spcBef>
                <a:spcPts val="0"/>
              </a:spcBef>
              <a:spcAft>
                <a:spcPts val="0"/>
              </a:spcAft>
              <a:buClr>
                <a:schemeClr val="lt1"/>
              </a:buClr>
              <a:buSzPts val="1900"/>
              <a:buFont typeface="Roboto"/>
              <a:buChar char="○"/>
            </a:pPr>
            <a:r>
              <a:rPr lang="en" sz="1900">
                <a:solidFill>
                  <a:schemeClr val="lt1"/>
                </a:solidFill>
                <a:latin typeface="Roboto"/>
                <a:ea typeface="Roboto"/>
                <a:cs typeface="Roboto"/>
                <a:sym typeface="Roboto"/>
              </a:rPr>
              <a:t>Gather user feedback for optimized placement.</a:t>
            </a:r>
            <a:endParaRPr sz="19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lnSpc>
                <a:spcPct val="115000"/>
              </a:lnSpc>
              <a:spcBef>
                <a:spcPts val="500"/>
              </a:spcBef>
              <a:spcAft>
                <a:spcPts val="500"/>
              </a:spcAft>
              <a:buClr>
                <a:schemeClr val="dk1"/>
              </a:buClr>
              <a:buSzPts val="1100"/>
              <a:buFont typeface="Arial"/>
              <a:buNone/>
            </a:pPr>
            <a:r>
              <a:rPr b="1" lang="en" sz="2400">
                <a:solidFill>
                  <a:srgbClr val="FF9900"/>
                </a:solidFill>
                <a:latin typeface="Roboto"/>
                <a:ea typeface="Roboto"/>
                <a:cs typeface="Roboto"/>
                <a:sym typeface="Roboto"/>
              </a:rPr>
              <a:t>ArcGIS Integration</a:t>
            </a:r>
            <a:endParaRPr sz="2400">
              <a:solidFill>
                <a:srgbClr val="FF9900"/>
              </a:solidFill>
            </a:endParaRPr>
          </a:p>
        </p:txBody>
      </p:sp>
      <p:sp>
        <p:nvSpPr>
          <p:cNvPr id="102" name="Google Shape;102;p20"/>
          <p:cNvSpPr txBox="1"/>
          <p:nvPr>
            <p:ph idx="1" type="body"/>
          </p:nvPr>
        </p:nvSpPr>
        <p:spPr>
          <a:xfrm>
            <a:off x="311700" y="1389600"/>
            <a:ext cx="2926800" cy="3630000"/>
          </a:xfrm>
          <a:prstGeom prst="rect">
            <a:avLst/>
          </a:prstGeom>
        </p:spPr>
        <p:txBody>
          <a:bodyPr anchorCtr="0" anchor="t" bIns="91425" lIns="91425" spcFirstLastPara="1" rIns="91425" wrap="square" tIns="91425">
            <a:noAutofit/>
          </a:bodyPr>
          <a:lstStyle/>
          <a:p>
            <a:pPr indent="-304800" lvl="0" marL="457200" rtl="0" algn="l">
              <a:spcBef>
                <a:spcPts val="500"/>
              </a:spcBef>
              <a:spcAft>
                <a:spcPts val="0"/>
              </a:spcAft>
              <a:buClr>
                <a:schemeClr val="lt1"/>
              </a:buClr>
              <a:buSzPts val="1200"/>
              <a:buFont typeface="Roboto"/>
              <a:buChar char="●"/>
            </a:pPr>
            <a:r>
              <a:rPr b="1" lang="en">
                <a:solidFill>
                  <a:srgbClr val="FFFF00"/>
                </a:solidFill>
                <a:latin typeface="Roboto"/>
                <a:ea typeface="Roboto"/>
                <a:cs typeface="Roboto"/>
                <a:sym typeface="Roboto"/>
              </a:rPr>
              <a:t>Title</a:t>
            </a:r>
            <a:r>
              <a:rPr b="1" lang="en">
                <a:solidFill>
                  <a:schemeClr val="lt1"/>
                </a:solidFill>
                <a:latin typeface="Roboto"/>
                <a:ea typeface="Roboto"/>
                <a:cs typeface="Roboto"/>
                <a:sym typeface="Roboto"/>
              </a:rPr>
              <a:t>:</a:t>
            </a:r>
            <a:r>
              <a:rPr lang="en">
                <a:solidFill>
                  <a:schemeClr val="lt1"/>
                </a:solidFill>
                <a:latin typeface="Roboto"/>
                <a:ea typeface="Roboto"/>
                <a:cs typeface="Roboto"/>
                <a:sym typeface="Roboto"/>
              </a:rPr>
              <a:t> Sharing and Collaboration</a:t>
            </a:r>
            <a:endParaRPr>
              <a:solidFill>
                <a:schemeClr val="lt1"/>
              </a:solidFill>
              <a:latin typeface="Roboto"/>
              <a:ea typeface="Roboto"/>
              <a:cs typeface="Roboto"/>
              <a:sym typeface="Roboto"/>
            </a:endParaRPr>
          </a:p>
          <a:p>
            <a:pPr indent="-304800" lvl="0" marL="457200" rtl="0" algn="l">
              <a:spcBef>
                <a:spcPts val="0"/>
              </a:spcBef>
              <a:spcAft>
                <a:spcPts val="0"/>
              </a:spcAft>
              <a:buClr>
                <a:schemeClr val="lt1"/>
              </a:buClr>
              <a:buSzPts val="1200"/>
              <a:buFont typeface="Roboto"/>
              <a:buChar char="●"/>
            </a:pPr>
            <a:r>
              <a:rPr b="1" lang="en">
                <a:solidFill>
                  <a:srgbClr val="FFFF00"/>
                </a:solidFill>
                <a:latin typeface="Roboto"/>
                <a:ea typeface="Roboto"/>
                <a:cs typeface="Roboto"/>
                <a:sym typeface="Roboto"/>
              </a:rPr>
              <a:t>Purpose</a:t>
            </a:r>
            <a:r>
              <a:rPr b="1" lang="en">
                <a:solidFill>
                  <a:schemeClr val="lt1"/>
                </a:solidFill>
                <a:latin typeface="Roboto"/>
                <a:ea typeface="Roboto"/>
                <a:cs typeface="Roboto"/>
                <a:sym typeface="Roboto"/>
              </a:rPr>
              <a:t>:</a:t>
            </a:r>
            <a:r>
              <a:rPr lang="en">
                <a:solidFill>
                  <a:schemeClr val="lt1"/>
                </a:solidFill>
                <a:latin typeface="Roboto"/>
                <a:ea typeface="Roboto"/>
                <a:cs typeface="Roboto"/>
                <a:sym typeface="Roboto"/>
              </a:rPr>
              <a:t> Publish data and analysis results to ArcGIS Online for wider access and collaboration.</a:t>
            </a:r>
            <a:endParaRPr>
              <a:solidFill>
                <a:schemeClr val="lt1"/>
              </a:solidFill>
              <a:latin typeface="Roboto"/>
              <a:ea typeface="Roboto"/>
              <a:cs typeface="Roboto"/>
              <a:sym typeface="Roboto"/>
            </a:endParaRPr>
          </a:p>
          <a:p>
            <a:pPr indent="-304800" lvl="0" marL="457200" rtl="0" algn="l">
              <a:spcBef>
                <a:spcPts val="0"/>
              </a:spcBef>
              <a:spcAft>
                <a:spcPts val="0"/>
              </a:spcAft>
              <a:buClr>
                <a:schemeClr val="lt1"/>
              </a:buClr>
              <a:buSzPts val="1200"/>
              <a:buFont typeface="Roboto"/>
              <a:buChar char="●"/>
            </a:pPr>
            <a:r>
              <a:rPr b="1" lang="en">
                <a:solidFill>
                  <a:srgbClr val="FFFF00"/>
                </a:solidFill>
                <a:latin typeface="Roboto"/>
                <a:ea typeface="Roboto"/>
                <a:cs typeface="Roboto"/>
                <a:sym typeface="Roboto"/>
              </a:rPr>
              <a:t>Benefits</a:t>
            </a:r>
            <a:r>
              <a:rPr b="1" lang="en">
                <a:solidFill>
                  <a:schemeClr val="lt1"/>
                </a:solidFill>
                <a:latin typeface="Roboto"/>
                <a:ea typeface="Roboto"/>
                <a:cs typeface="Roboto"/>
                <a:sym typeface="Roboto"/>
              </a:rPr>
              <a:t>:</a:t>
            </a:r>
            <a:r>
              <a:rPr lang="en">
                <a:solidFill>
                  <a:schemeClr val="lt1"/>
                </a:solidFill>
                <a:latin typeface="Roboto"/>
                <a:ea typeface="Roboto"/>
                <a:cs typeface="Roboto"/>
                <a:sym typeface="Roboto"/>
              </a:rPr>
              <a:t> Enhanced visualization, sharing with stakeholders, integration with other geospatial tools.</a:t>
            </a:r>
            <a:endParaRPr>
              <a:solidFill>
                <a:schemeClr val="lt1"/>
              </a:solidFill>
              <a:latin typeface="Roboto"/>
              <a:ea typeface="Roboto"/>
              <a:cs typeface="Roboto"/>
              <a:sym typeface="Roboto"/>
            </a:endParaRPr>
          </a:p>
          <a:p>
            <a:pPr indent="-304800" lvl="0" marL="457200" rtl="0" algn="l">
              <a:spcBef>
                <a:spcPts val="0"/>
              </a:spcBef>
              <a:spcAft>
                <a:spcPts val="0"/>
              </a:spcAft>
              <a:buClr>
                <a:schemeClr val="lt1"/>
              </a:buClr>
              <a:buSzPts val="1200"/>
              <a:buFont typeface="Roboto"/>
              <a:buChar char="●"/>
            </a:pPr>
            <a:r>
              <a:rPr b="1" lang="en">
                <a:solidFill>
                  <a:srgbClr val="FFFF00"/>
                </a:solidFill>
                <a:latin typeface="Roboto"/>
                <a:ea typeface="Roboto"/>
                <a:cs typeface="Roboto"/>
                <a:sym typeface="Roboto"/>
              </a:rPr>
              <a:t>Limitation</a:t>
            </a:r>
            <a:r>
              <a:rPr lang="en">
                <a:solidFill>
                  <a:schemeClr val="lt1"/>
                </a:solidFill>
                <a:latin typeface="Roboto"/>
                <a:ea typeface="Roboto"/>
                <a:cs typeface="Roboto"/>
                <a:sym typeface="Roboto"/>
              </a:rPr>
              <a:t>: Required the “publisher” role in the ArcGIS licenses. Currently the licences in the ArcGIS account provided is “viewer”. If the licenses is changed into the publisher role the integration will be successful. </a:t>
            </a:r>
            <a:endParaRPr>
              <a:solidFill>
                <a:schemeClr val="lt1"/>
              </a:solidFill>
              <a:latin typeface="Roboto"/>
              <a:ea typeface="Roboto"/>
              <a:cs typeface="Roboto"/>
              <a:sym typeface="Roboto"/>
            </a:endParaRPr>
          </a:p>
          <a:p>
            <a:pPr indent="0" lvl="0" marL="0" rtl="0" algn="l">
              <a:spcBef>
                <a:spcPts val="500"/>
              </a:spcBef>
              <a:spcAft>
                <a:spcPts val="1200"/>
              </a:spcAft>
              <a:buNone/>
            </a:pPr>
            <a:r>
              <a:t/>
            </a:r>
            <a:endParaRPr>
              <a:solidFill>
                <a:schemeClr val="lt1"/>
              </a:solidFill>
            </a:endParaRPr>
          </a:p>
        </p:txBody>
      </p:sp>
      <p:pic>
        <p:nvPicPr>
          <p:cNvPr id="103" name="Google Shape;103;p20"/>
          <p:cNvPicPr preferRelativeResize="0"/>
          <p:nvPr/>
        </p:nvPicPr>
        <p:blipFill>
          <a:blip r:embed="rId3">
            <a:alphaModFix/>
          </a:blip>
          <a:stretch>
            <a:fillRect/>
          </a:stretch>
        </p:blipFill>
        <p:spPr>
          <a:xfrm>
            <a:off x="3424500" y="993775"/>
            <a:ext cx="5719501" cy="330937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500"/>
              </a:spcBef>
              <a:spcAft>
                <a:spcPts val="500"/>
              </a:spcAft>
              <a:buClr>
                <a:schemeClr val="dk1"/>
              </a:buClr>
              <a:buSzPts val="1100"/>
              <a:buFont typeface="Arial"/>
              <a:buNone/>
            </a:pPr>
            <a:r>
              <a:rPr b="1" lang="en" sz="2400">
                <a:solidFill>
                  <a:srgbClr val="FF9900"/>
                </a:solidFill>
                <a:latin typeface="Roboto"/>
                <a:ea typeface="Roboto"/>
                <a:cs typeface="Roboto"/>
                <a:sym typeface="Roboto"/>
              </a:rPr>
              <a:t>Conclusion</a:t>
            </a:r>
            <a:endParaRPr sz="2400">
              <a:solidFill>
                <a:srgbClr val="FF9900"/>
              </a:solidFill>
            </a:endParaRPr>
          </a:p>
        </p:txBody>
      </p:sp>
      <p:sp>
        <p:nvSpPr>
          <p:cNvPr id="109" name="Google Shape;10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9250" lvl="0" marL="457200" rtl="0" algn="l">
              <a:spcBef>
                <a:spcPts val="50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Title</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Driving EV Adoption through Strategic Infrastructure Planning</a:t>
            </a:r>
            <a:endParaRPr sz="1900">
              <a:solidFill>
                <a:schemeClr val="lt1"/>
              </a:solidFill>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Summary</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The project identified optimal locations by city for new EV charging stations in Connecticut: Darien (Connecticut Welcome Center - Tesla Supercharger), New Milford (Fairfield Plaza), Southington - (Southington Municipal Center), West Simsbury (Hoffman Toyota), Killingly (Killingly Town Hall), and Storrs (University of Connecticut - North Parking Garage).</a:t>
            </a:r>
            <a:endParaRPr sz="1900">
              <a:solidFill>
                <a:schemeClr val="lt1"/>
              </a:solidFill>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Impact</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Improved accessibility, utilization, and equitable distribution of charging infrastructure.</a:t>
            </a:r>
            <a:endParaRPr sz="1900">
              <a:solidFill>
                <a:schemeClr val="lt1"/>
              </a:solidFill>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b="1" lang="en" sz="1900">
                <a:solidFill>
                  <a:srgbClr val="FFFF00"/>
                </a:solidFill>
                <a:latin typeface="Roboto"/>
                <a:ea typeface="Roboto"/>
                <a:cs typeface="Roboto"/>
                <a:sym typeface="Roboto"/>
              </a:rPr>
              <a:t>Next Steps</a:t>
            </a:r>
            <a:r>
              <a:rPr b="1" lang="en" sz="1900">
                <a:solidFill>
                  <a:schemeClr val="lt1"/>
                </a:solidFill>
                <a:latin typeface="Roboto"/>
                <a:ea typeface="Roboto"/>
                <a:cs typeface="Roboto"/>
                <a:sym typeface="Roboto"/>
              </a:rPr>
              <a:t>:</a:t>
            </a:r>
            <a:r>
              <a:rPr lang="en" sz="1900">
                <a:solidFill>
                  <a:schemeClr val="lt1"/>
                </a:solidFill>
                <a:latin typeface="Roboto"/>
                <a:ea typeface="Roboto"/>
                <a:cs typeface="Roboto"/>
                <a:sym typeface="Roboto"/>
              </a:rPr>
              <a:t> Implement recommendations, monitor performance, and refine strategies based on real-world data.</a:t>
            </a:r>
            <a:endParaRPr sz="19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F9900"/>
                </a:solidFill>
              </a:rPr>
              <a:t>Sources:</a:t>
            </a:r>
            <a:endParaRPr b="1">
              <a:solidFill>
                <a:srgbClr val="FF9900"/>
              </a:solidFill>
            </a:endParaRPr>
          </a:p>
          <a:p>
            <a:pPr indent="0" lvl="0" marL="0" rtl="0" algn="l">
              <a:spcBef>
                <a:spcPts val="0"/>
              </a:spcBef>
              <a:spcAft>
                <a:spcPts val="0"/>
              </a:spcAft>
              <a:buNone/>
            </a:pPr>
            <a:r>
              <a:t/>
            </a:r>
            <a:endParaRPr/>
          </a:p>
        </p:txBody>
      </p:sp>
      <p:sp>
        <p:nvSpPr>
          <p:cNvPr id="115" name="Google Shape;11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SzPts val="1100"/>
              <a:buChar char="●"/>
            </a:pPr>
            <a:r>
              <a:rPr lang="en" sz="1100" u="sng">
                <a:solidFill>
                  <a:schemeClr val="hlink"/>
                </a:solidFill>
                <a:hlinkClick r:id="rId3"/>
              </a:rPr>
              <a:t>Electric Vehicle Charging Connecticut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